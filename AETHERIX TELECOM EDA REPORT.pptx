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W626Wg2ZQE4ehS4hV8m8PZh2A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CenturyGothic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enturyGothic-italic.fntdata"/><Relationship Id="rId25" Type="http://schemas.openxmlformats.org/officeDocument/2006/relationships/font" Target="fonts/CenturyGothic-bold.fntdata"/><Relationship Id="rId28" Type="http://customschemas.google.com/relationships/presentationmetadata" Target="metadata"/><Relationship Id="rId27" Type="http://schemas.openxmlformats.org/officeDocument/2006/relationships/font" Target="fonts/CenturyGothic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13" name="Google Shape;1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1"/>
          <p:cNvSpPr txBox="1"/>
          <p:nvPr>
            <p:ph type="ctrTitle"/>
          </p:nvPr>
        </p:nvSpPr>
        <p:spPr>
          <a:xfrm>
            <a:off x="1371600" y="1803405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" type="subTitle"/>
          </p:nvPr>
        </p:nvSpPr>
        <p:spPr>
          <a:xfrm>
            <a:off x="1371600" y="3632201"/>
            <a:ext cx="944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1"/>
          <p:cNvSpPr txBox="1"/>
          <p:nvPr>
            <p:ph idx="10" type="dt"/>
          </p:nvPr>
        </p:nvSpPr>
        <p:spPr>
          <a:xfrm>
            <a:off x="7909561" y="4314328"/>
            <a:ext cx="2910840" cy="374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1371600" y="4323845"/>
            <a:ext cx="640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8077200" y="14308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26" name="Google Shape;2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3"/>
          <p:cNvSpPr txBox="1"/>
          <p:nvPr>
            <p:ph type="title"/>
          </p:nvPr>
        </p:nvSpPr>
        <p:spPr>
          <a:xfrm>
            <a:off x="685800" y="753533"/>
            <a:ext cx="10820399" cy="28019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body"/>
          </p:nvPr>
        </p:nvSpPr>
        <p:spPr>
          <a:xfrm>
            <a:off x="1024467" y="3641725"/>
            <a:ext cx="10490200" cy="95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23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1" type="ftr"/>
          </p:nvPr>
        </p:nvSpPr>
        <p:spPr>
          <a:xfrm>
            <a:off x="685800" y="381001"/>
            <a:ext cx="6991492" cy="36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6858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2" type="body"/>
          </p:nvPr>
        </p:nvSpPr>
        <p:spPr>
          <a:xfrm>
            <a:off x="61722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/>
          <p:nvPr>
            <p:ph type="title"/>
          </p:nvPr>
        </p:nvSpPr>
        <p:spPr>
          <a:xfrm>
            <a:off x="2895600" y="762000"/>
            <a:ext cx="8610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" type="body"/>
          </p:nvPr>
        </p:nvSpPr>
        <p:spPr>
          <a:xfrm>
            <a:off x="914409" y="2183802"/>
            <a:ext cx="50799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25"/>
          <p:cNvSpPr txBox="1"/>
          <p:nvPr>
            <p:ph idx="2" type="body"/>
          </p:nvPr>
        </p:nvSpPr>
        <p:spPr>
          <a:xfrm>
            <a:off x="685800" y="3132666"/>
            <a:ext cx="5311775" cy="308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3" type="body"/>
          </p:nvPr>
        </p:nvSpPr>
        <p:spPr>
          <a:xfrm>
            <a:off x="6400800" y="2183802"/>
            <a:ext cx="5105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5"/>
          <p:cNvSpPr txBox="1"/>
          <p:nvPr>
            <p:ph idx="4" type="body"/>
          </p:nvPr>
        </p:nvSpPr>
        <p:spPr>
          <a:xfrm>
            <a:off x="6172200" y="3132666"/>
            <a:ext cx="5334000" cy="308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8"/>
          <p:cNvSpPr txBox="1"/>
          <p:nvPr>
            <p:ph type="title"/>
          </p:nvPr>
        </p:nvSpPr>
        <p:spPr>
          <a:xfrm>
            <a:off x="685800" y="1524000"/>
            <a:ext cx="4114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" type="body"/>
          </p:nvPr>
        </p:nvSpPr>
        <p:spPr>
          <a:xfrm>
            <a:off x="4995582" y="746759"/>
            <a:ext cx="6510618" cy="547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2" type="body"/>
          </p:nvPr>
        </p:nvSpPr>
        <p:spPr>
          <a:xfrm>
            <a:off x="685800" y="3124199"/>
            <a:ext cx="4114800" cy="309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28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9"/>
          <p:cNvSpPr txBox="1"/>
          <p:nvPr>
            <p:ph type="title"/>
          </p:nvPr>
        </p:nvSpPr>
        <p:spPr>
          <a:xfrm>
            <a:off x="685800" y="1524000"/>
            <a:ext cx="6873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/>
          <p:nvPr>
            <p:ph idx="2" type="pic"/>
          </p:nvPr>
        </p:nvSpPr>
        <p:spPr>
          <a:xfrm>
            <a:off x="7861238" y="751241"/>
            <a:ext cx="3644962" cy="5467443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9"/>
          <p:cNvSpPr txBox="1"/>
          <p:nvPr>
            <p:ph idx="1" type="body"/>
          </p:nvPr>
        </p:nvSpPr>
        <p:spPr>
          <a:xfrm>
            <a:off x="685800" y="3124199"/>
            <a:ext cx="6873240" cy="309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29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9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 txBox="1"/>
          <p:nvPr>
            <p:ph type="title"/>
          </p:nvPr>
        </p:nvSpPr>
        <p:spPr>
          <a:xfrm>
            <a:off x="685777" y="4697360"/>
            <a:ext cx="10822034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/>
          <p:nvPr>
            <p:ph idx="2" type="pic"/>
          </p:nvPr>
        </p:nvSpPr>
        <p:spPr>
          <a:xfrm>
            <a:off x="681727" y="941439"/>
            <a:ext cx="10821840" cy="3478161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30"/>
          <p:cNvSpPr txBox="1"/>
          <p:nvPr>
            <p:ph idx="1" type="body"/>
          </p:nvPr>
        </p:nvSpPr>
        <p:spPr>
          <a:xfrm>
            <a:off x="685800" y="5516715"/>
            <a:ext cx="10820400" cy="70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 showMasterSp="0">
  <p:cSld name="Title and Ca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79" name="Google Shape;7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1"/>
          <p:cNvSpPr txBox="1"/>
          <p:nvPr>
            <p:ph type="title"/>
          </p:nvPr>
        </p:nvSpPr>
        <p:spPr>
          <a:xfrm>
            <a:off x="685800" y="753532"/>
            <a:ext cx="10820400" cy="280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" type="body"/>
          </p:nvPr>
        </p:nvSpPr>
        <p:spPr>
          <a:xfrm>
            <a:off x="1024467" y="3649133"/>
            <a:ext cx="10130516" cy="999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31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1" type="ftr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 showMasterSp="0">
  <p:cSld name="Quot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86" name="Google Shape;86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2"/>
          <p:cNvSpPr txBox="1"/>
          <p:nvPr>
            <p:ph type="title"/>
          </p:nvPr>
        </p:nvSpPr>
        <p:spPr>
          <a:xfrm>
            <a:off x="1024467" y="753533"/>
            <a:ext cx="10151533" cy="2604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2"/>
          <p:cNvSpPr txBox="1"/>
          <p:nvPr>
            <p:ph idx="1" type="body"/>
          </p:nvPr>
        </p:nvSpPr>
        <p:spPr>
          <a:xfrm>
            <a:off x="1303865" y="3365556"/>
            <a:ext cx="9592736" cy="444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32"/>
          <p:cNvSpPr txBox="1"/>
          <p:nvPr>
            <p:ph idx="2" type="body"/>
          </p:nvPr>
        </p:nvSpPr>
        <p:spPr>
          <a:xfrm>
            <a:off x="1024467" y="3959862"/>
            <a:ext cx="10151533" cy="679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32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2"/>
          <p:cNvSpPr txBox="1"/>
          <p:nvPr>
            <p:ph idx="11" type="ftr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2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32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entury Gothic"/>
              <a:buNone/>
            </a:pPr>
            <a:r>
              <a:rPr b="0" lang="en-GB" sz="80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94" name="Google Shape;94;p32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entury Gothic"/>
              <a:buNone/>
            </a:pPr>
            <a:r>
              <a:rPr b="0" lang="en-GB" sz="80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 showMasterSp="0">
  <p:cSld name="Name Card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96" name="Google Shape;9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3"/>
          <p:cNvSpPr txBox="1"/>
          <p:nvPr>
            <p:ph type="title"/>
          </p:nvPr>
        </p:nvSpPr>
        <p:spPr>
          <a:xfrm>
            <a:off x="1024495" y="1124701"/>
            <a:ext cx="10146186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3"/>
          <p:cNvSpPr txBox="1"/>
          <p:nvPr>
            <p:ph idx="1" type="body"/>
          </p:nvPr>
        </p:nvSpPr>
        <p:spPr>
          <a:xfrm>
            <a:off x="1024467" y="3648315"/>
            <a:ext cx="10144654" cy="999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9" name="Google Shape;99;p33"/>
          <p:cNvSpPr txBox="1"/>
          <p:nvPr>
            <p:ph idx="10" type="dt"/>
          </p:nvPr>
        </p:nvSpPr>
        <p:spPr>
          <a:xfrm>
            <a:off x="7814452" y="378883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3"/>
          <p:cNvSpPr txBox="1"/>
          <p:nvPr>
            <p:ph idx="11" type="ftr"/>
          </p:nvPr>
        </p:nvSpPr>
        <p:spPr>
          <a:xfrm>
            <a:off x="685800" y="378883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3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4"/>
          <p:cNvSpPr txBox="1"/>
          <p:nvPr>
            <p:ph type="title"/>
          </p:nvPr>
        </p:nvSpPr>
        <p:spPr>
          <a:xfrm>
            <a:off x="2895600" y="761999"/>
            <a:ext cx="8610599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4"/>
          <p:cNvSpPr txBox="1"/>
          <p:nvPr>
            <p:ph idx="1" type="body"/>
          </p:nvPr>
        </p:nvSpPr>
        <p:spPr>
          <a:xfrm>
            <a:off x="685800" y="2202080"/>
            <a:ext cx="3456432" cy="617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5" name="Google Shape;105;p34"/>
          <p:cNvSpPr txBox="1"/>
          <p:nvPr>
            <p:ph idx="2" type="body"/>
          </p:nvPr>
        </p:nvSpPr>
        <p:spPr>
          <a:xfrm>
            <a:off x="685799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p34"/>
          <p:cNvSpPr txBox="1"/>
          <p:nvPr>
            <p:ph idx="3" type="body"/>
          </p:nvPr>
        </p:nvSpPr>
        <p:spPr>
          <a:xfrm>
            <a:off x="4368800" y="2201333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7" name="Google Shape;107;p34"/>
          <p:cNvSpPr txBox="1"/>
          <p:nvPr>
            <p:ph idx="4" type="body"/>
          </p:nvPr>
        </p:nvSpPr>
        <p:spPr>
          <a:xfrm>
            <a:off x="4366858" y="2904067"/>
            <a:ext cx="3456432" cy="3314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8" name="Google Shape;108;p34"/>
          <p:cNvSpPr txBox="1"/>
          <p:nvPr>
            <p:ph idx="5" type="body"/>
          </p:nvPr>
        </p:nvSpPr>
        <p:spPr>
          <a:xfrm>
            <a:off x="8051800" y="2192866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9" name="Google Shape;109;p34"/>
          <p:cNvSpPr txBox="1"/>
          <p:nvPr>
            <p:ph idx="6" type="body"/>
          </p:nvPr>
        </p:nvSpPr>
        <p:spPr>
          <a:xfrm>
            <a:off x="8051801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34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4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5"/>
          <p:cNvSpPr txBox="1"/>
          <p:nvPr>
            <p:ph type="title"/>
          </p:nvPr>
        </p:nvSpPr>
        <p:spPr>
          <a:xfrm>
            <a:off x="2895600" y="762000"/>
            <a:ext cx="86105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5"/>
          <p:cNvSpPr txBox="1"/>
          <p:nvPr>
            <p:ph idx="1" type="body"/>
          </p:nvPr>
        </p:nvSpPr>
        <p:spPr>
          <a:xfrm>
            <a:off x="688618" y="4191000"/>
            <a:ext cx="3451582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35"/>
          <p:cNvSpPr/>
          <p:nvPr>
            <p:ph idx="2" type="pic"/>
          </p:nvPr>
        </p:nvSpPr>
        <p:spPr>
          <a:xfrm>
            <a:off x="688618" y="2362200"/>
            <a:ext cx="3451582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7" name="Google Shape;117;p35"/>
          <p:cNvSpPr txBox="1"/>
          <p:nvPr>
            <p:ph idx="3" type="body"/>
          </p:nvPr>
        </p:nvSpPr>
        <p:spPr>
          <a:xfrm>
            <a:off x="688618" y="4873764"/>
            <a:ext cx="3451582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8" name="Google Shape;118;p35"/>
          <p:cNvSpPr txBox="1"/>
          <p:nvPr>
            <p:ph idx="4" type="body"/>
          </p:nvPr>
        </p:nvSpPr>
        <p:spPr>
          <a:xfrm>
            <a:off x="4374263" y="4191000"/>
            <a:ext cx="3448935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p35"/>
          <p:cNvSpPr/>
          <p:nvPr>
            <p:ph idx="5" type="pic"/>
          </p:nvPr>
        </p:nvSpPr>
        <p:spPr>
          <a:xfrm>
            <a:off x="4374263" y="2362200"/>
            <a:ext cx="3448936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0" name="Google Shape;120;p35"/>
          <p:cNvSpPr txBox="1"/>
          <p:nvPr>
            <p:ph idx="6" type="body"/>
          </p:nvPr>
        </p:nvSpPr>
        <p:spPr>
          <a:xfrm>
            <a:off x="4374264" y="4873763"/>
            <a:ext cx="3448935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p35"/>
          <p:cNvSpPr txBox="1"/>
          <p:nvPr>
            <p:ph idx="7" type="body"/>
          </p:nvPr>
        </p:nvSpPr>
        <p:spPr>
          <a:xfrm>
            <a:off x="8049731" y="4191000"/>
            <a:ext cx="3456469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35"/>
          <p:cNvSpPr/>
          <p:nvPr>
            <p:ph idx="8" type="pic"/>
          </p:nvPr>
        </p:nvSpPr>
        <p:spPr>
          <a:xfrm>
            <a:off x="8049855" y="2362200"/>
            <a:ext cx="3447878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3" name="Google Shape;123;p35"/>
          <p:cNvSpPr txBox="1"/>
          <p:nvPr>
            <p:ph idx="9" type="body"/>
          </p:nvPr>
        </p:nvSpPr>
        <p:spPr>
          <a:xfrm>
            <a:off x="8049731" y="4873761"/>
            <a:ext cx="3452445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4" name="Google Shape;124;p35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5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5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6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6"/>
          <p:cNvSpPr txBox="1"/>
          <p:nvPr>
            <p:ph idx="1" type="body"/>
          </p:nvPr>
        </p:nvSpPr>
        <p:spPr>
          <a:xfrm rot="5400000">
            <a:off x="4083938" y="-1203579"/>
            <a:ext cx="4024125" cy="10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6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6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6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134" name="Google Shape;13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7"/>
          <p:cNvSpPr txBox="1"/>
          <p:nvPr>
            <p:ph type="title"/>
          </p:nvPr>
        </p:nvSpPr>
        <p:spPr>
          <a:xfrm rot="5400000">
            <a:off x="8525934" y="1667933"/>
            <a:ext cx="39031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7"/>
          <p:cNvSpPr txBox="1"/>
          <p:nvPr>
            <p:ph idx="1" type="body"/>
          </p:nvPr>
        </p:nvSpPr>
        <p:spPr>
          <a:xfrm rot="5400000">
            <a:off x="3175000" y="-1405467"/>
            <a:ext cx="3903133" cy="8204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37"/>
          <p:cNvSpPr txBox="1"/>
          <p:nvPr>
            <p:ph idx="10" type="dt"/>
          </p:nvPr>
        </p:nvSpPr>
        <p:spPr>
          <a:xfrm>
            <a:off x="7814452" y="379941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7"/>
          <p:cNvSpPr txBox="1"/>
          <p:nvPr>
            <p:ph idx="11" type="ftr"/>
          </p:nvPr>
        </p:nvSpPr>
        <p:spPr>
          <a:xfrm>
            <a:off x="685800" y="381000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7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TOP.png" id="6" name="Google Shape;6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44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0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0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Relationship Id="rId5" Type="http://schemas.openxmlformats.org/officeDocument/2006/relationships/image" Target="../media/image38.png"/><Relationship Id="rId6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>
            <p:ph type="ctrTitle"/>
          </p:nvPr>
        </p:nvSpPr>
        <p:spPr>
          <a:xfrm>
            <a:off x="1371600" y="1803405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</a:pPr>
            <a:r>
              <a:rPr b="1" lang="en-GB"/>
              <a:t>AETHERIX TELECOM </a:t>
            </a:r>
            <a:br>
              <a:rPr b="1" lang="en-GB"/>
            </a:br>
            <a:r>
              <a:rPr b="1" lang="en-GB"/>
              <a:t>EDA REPORT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>
            <p:ph type="title"/>
          </p:nvPr>
        </p:nvSpPr>
        <p:spPr>
          <a:xfrm>
            <a:off x="838200" y="1087501"/>
            <a:ext cx="1023213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b="1" lang="en-GB"/>
              <a:t>BUSINESS UNDERSTANDING AND OVERVIEW</a:t>
            </a:r>
            <a:endParaRPr b="1"/>
          </a:p>
        </p:txBody>
      </p:sp>
      <p:sp>
        <p:nvSpPr>
          <p:cNvPr id="150" name="Google Shape;150;p2"/>
          <p:cNvSpPr txBox="1"/>
          <p:nvPr>
            <p:ph idx="1" type="body"/>
          </p:nvPr>
        </p:nvSpPr>
        <p:spPr>
          <a:xfrm>
            <a:off x="920496" y="3191255"/>
            <a:ext cx="10515600" cy="2331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GB"/>
              <a:t>We are tasked to analyse the customers who churn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GB"/>
              <a:t>We performed Exploratory Data Analysis (EDA) in order to obtain actionable insights and present them in a meaningful way for the company to take necessary actions to retain their customers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>
            <p:ph type="title"/>
          </p:nvPr>
        </p:nvSpPr>
        <p:spPr>
          <a:xfrm>
            <a:off x="838200" y="30086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b="1" lang="en-GB"/>
              <a:t>UNDERSTANDING THE DATA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 txBox="1"/>
          <p:nvPr>
            <p:ph type="title"/>
          </p:nvPr>
        </p:nvSpPr>
        <p:spPr>
          <a:xfrm>
            <a:off x="83406" y="1133856"/>
            <a:ext cx="611581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b="1" lang="en-GB" sz="4000"/>
              <a:t>TARGET VARIABLE</a:t>
            </a:r>
            <a:endParaRPr b="1" sz="4000"/>
          </a:p>
        </p:txBody>
      </p:sp>
      <p:sp>
        <p:nvSpPr>
          <p:cNvPr id="161" name="Google Shape;161;p4"/>
          <p:cNvSpPr txBox="1"/>
          <p:nvPr>
            <p:ph idx="1" type="body"/>
          </p:nvPr>
        </p:nvSpPr>
        <p:spPr>
          <a:xfrm>
            <a:off x="411481" y="3154679"/>
            <a:ext cx="5416296" cy="34930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en-GB" sz="2400"/>
              <a:t>Findings </a:t>
            </a:r>
            <a:r>
              <a:rPr lang="en-GB" sz="2400"/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GB" sz="2400"/>
              <a:t>Data is highly inbalanced, at a ratio of almost 3:1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GB" sz="2400"/>
              <a:t>About 26.54% of customers have churned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GB" sz="2400"/>
              <a:t>More analysis will be run while taking the target values into account</a:t>
            </a:r>
            <a:endParaRPr sz="2400"/>
          </a:p>
        </p:txBody>
      </p:sp>
      <p:pic>
        <p:nvPicPr>
          <p:cNvPr id="162" name="Google Shape;1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4496" y="1479619"/>
            <a:ext cx="5854098" cy="4601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>
            <p:ph type="title"/>
          </p:nvPr>
        </p:nvSpPr>
        <p:spPr>
          <a:xfrm>
            <a:off x="2100072" y="410845"/>
            <a:ext cx="76565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b="1" lang="en-GB" sz="4000"/>
              <a:t>MISSING VALUES</a:t>
            </a:r>
            <a:endParaRPr b="1" sz="4000"/>
          </a:p>
        </p:txBody>
      </p:sp>
      <p:sp>
        <p:nvSpPr>
          <p:cNvPr id="168" name="Google Shape;168;p5"/>
          <p:cNvSpPr txBox="1"/>
          <p:nvPr>
            <p:ph idx="1" type="body"/>
          </p:nvPr>
        </p:nvSpPr>
        <p:spPr>
          <a:xfrm>
            <a:off x="838200" y="2157983"/>
            <a:ext cx="10515600" cy="4018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GB"/>
              <a:t>Findings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After the conversion of ‘totalcharge’ column to the appropriate data type, turns out the column has missing values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There were only 11(0.16%) missing values, which is quite insignificant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To that effect, we are going to delete the null values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 txBox="1"/>
          <p:nvPr>
            <p:ph type="title"/>
          </p:nvPr>
        </p:nvSpPr>
        <p:spPr>
          <a:xfrm>
            <a:off x="184032" y="384048"/>
            <a:ext cx="558583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</a:pPr>
            <a:r>
              <a:rPr b="1" lang="en-GB" sz="2400"/>
              <a:t>INITIAL INTUITION FROM DATA	</a:t>
            </a:r>
            <a:endParaRPr b="1" sz="2400"/>
          </a:p>
        </p:txBody>
      </p:sp>
      <p:sp>
        <p:nvSpPr>
          <p:cNvPr id="174" name="Google Shape;174;p6"/>
          <p:cNvSpPr txBox="1"/>
          <p:nvPr>
            <p:ph idx="1" type="body"/>
          </p:nvPr>
        </p:nvSpPr>
        <p:spPr>
          <a:xfrm>
            <a:off x="509016" y="1709610"/>
            <a:ext cx="5465807" cy="4764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Findings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‘SeniorCitizen’ column is actually a categorical variable hence this analysis doesn't apply to 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5% of the customers are high value customer pay monthly charges 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GB" sz="1800"/>
              <a:t> $89.86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While 25%  of t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he customers churn at</a:t>
            </a: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  tenure </a:t>
            </a:r>
            <a:r>
              <a:rPr lang="en-GB" sz="1800"/>
              <a:t>≤ </a:t>
            </a: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Half of the customers have been with the company less than 30 months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Minimum Monthly Charges $18.25 while max is $118.75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Monthly Charges have 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slightly right skewed due to many low paying customers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Total Charges have strong right skew owing to the few loyal high value customers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b="0" i="0"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9208" y="384048"/>
            <a:ext cx="4303775" cy="3108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8578" y="3855559"/>
            <a:ext cx="2993596" cy="1886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17152" y="3818983"/>
            <a:ext cx="2599944" cy="1938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 txBox="1"/>
          <p:nvPr>
            <p:ph type="title"/>
          </p:nvPr>
        </p:nvSpPr>
        <p:spPr>
          <a:xfrm>
            <a:off x="2350008" y="2862072"/>
            <a:ext cx="669950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</a:pPr>
            <a:r>
              <a:rPr b="1" lang="en-GB" sz="4400"/>
              <a:t>UNIVARIATE ANALYSIS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/>
          <p:nvPr>
            <p:ph type="title"/>
          </p:nvPr>
        </p:nvSpPr>
        <p:spPr>
          <a:xfrm>
            <a:off x="40544" y="614746"/>
            <a:ext cx="3756901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Gothic"/>
              <a:buNone/>
            </a:pPr>
            <a:r>
              <a:rPr b="1" lang="en-GB" sz="4000"/>
              <a:t>CHURN VS OTHER FEATURES</a:t>
            </a:r>
            <a:endParaRPr/>
          </a:p>
        </p:txBody>
      </p:sp>
      <p:pic>
        <p:nvPicPr>
          <p:cNvPr id="188" name="Google Shape;188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2944" y="2350008"/>
            <a:ext cx="2546364" cy="1967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94556" y="241091"/>
            <a:ext cx="2792888" cy="204033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 txBox="1"/>
          <p:nvPr/>
        </p:nvSpPr>
        <p:spPr>
          <a:xfrm>
            <a:off x="512064" y="2350008"/>
            <a:ext cx="4793028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Findings</a:t>
            </a:r>
            <a:endParaRPr b="0" i="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Customers paying above the mean ‘MonthlyCharges’ ($65), will be regarded as High paying customers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paying customers tend to churn more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These customers tend to churn relatively quick (within1-12month tenure group)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1" name="Google Shape;1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1" y="4381333"/>
            <a:ext cx="2880640" cy="2162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/>
          <p:nvPr>
            <p:ph type="title"/>
          </p:nvPr>
        </p:nvSpPr>
        <p:spPr>
          <a:xfrm>
            <a:off x="0" y="939709"/>
            <a:ext cx="4542561" cy="814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</a:pPr>
            <a:r>
              <a:rPr b="1" lang="en-GB" sz="2400"/>
              <a:t>CUSTOMERS MORE LIKELY TO CHURN CONT’D</a:t>
            </a:r>
            <a:endParaRPr b="1" sz="2400"/>
          </a:p>
        </p:txBody>
      </p:sp>
      <p:sp>
        <p:nvSpPr>
          <p:cNvPr id="197" name="Google Shape;197;p9"/>
          <p:cNvSpPr txBox="1"/>
          <p:nvPr>
            <p:ph idx="1" type="body"/>
          </p:nvPr>
        </p:nvSpPr>
        <p:spPr>
          <a:xfrm>
            <a:off x="637265" y="1956816"/>
            <a:ext cx="4482893" cy="3782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Findings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Non-senior citizens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Customers who don't have partners, as well as those with no dependents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Customers with no dependents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Those with phone services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Those who have internet services (esp. fibre optic services)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Customers with no online security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id="198" name="Google Shape;198;p9"/>
          <p:cNvPicPr preferRelativeResize="0"/>
          <p:nvPr/>
        </p:nvPicPr>
        <p:blipFill rotWithShape="1">
          <a:blip r:embed="rId3">
            <a:alphaModFix/>
          </a:blip>
          <a:srcRect b="1196" l="0" r="0" t="2716"/>
          <a:stretch/>
        </p:blipFill>
        <p:spPr>
          <a:xfrm>
            <a:off x="5367930" y="344197"/>
            <a:ext cx="3173868" cy="2042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9902" y="365125"/>
            <a:ext cx="2810846" cy="1963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9"/>
          <p:cNvPicPr preferRelativeResize="0"/>
          <p:nvPr/>
        </p:nvPicPr>
        <p:blipFill rotWithShape="1">
          <a:blip r:embed="rId5">
            <a:alphaModFix/>
          </a:blip>
          <a:srcRect b="-1" l="0" r="0" t="2716"/>
          <a:stretch/>
        </p:blipFill>
        <p:spPr>
          <a:xfrm>
            <a:off x="5321093" y="2412437"/>
            <a:ext cx="3062881" cy="2122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95944" y="2375861"/>
            <a:ext cx="2789940" cy="1963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34783" y="4562348"/>
            <a:ext cx="2768553" cy="1988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28324" y="4417479"/>
            <a:ext cx="2926411" cy="2122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 txBox="1"/>
          <p:nvPr>
            <p:ph idx="1" type="body"/>
          </p:nvPr>
        </p:nvSpPr>
        <p:spPr>
          <a:xfrm>
            <a:off x="312003" y="2004665"/>
            <a:ext cx="5191567" cy="3172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43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b="0" i="0" sz="18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Those with no device protection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Those with monthly subscriptions/contracts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Those with no tech support, which in turn can translate to those with paperless billing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Those who make payments using electronic checks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0" i="0" lang="en-GB" sz="1800">
                <a:latin typeface="Arial"/>
                <a:ea typeface="Arial"/>
                <a:cs typeface="Arial"/>
                <a:sym typeface="Arial"/>
              </a:rPr>
              <a:t>Those with no online backup</a:t>
            </a:r>
            <a:endParaRPr/>
          </a:p>
        </p:txBody>
      </p:sp>
      <p:pic>
        <p:nvPicPr>
          <p:cNvPr id="209" name="Google Shape;2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7348" y="282829"/>
            <a:ext cx="2887512" cy="2043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86824" y="282829"/>
            <a:ext cx="2775304" cy="197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0123" y="2381818"/>
            <a:ext cx="2775304" cy="2043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2651" y="2346396"/>
            <a:ext cx="2711121" cy="2052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0045" y="4476551"/>
            <a:ext cx="2830223" cy="208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65993" y="4499413"/>
            <a:ext cx="2919173" cy="209404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0"/>
          <p:cNvSpPr txBox="1"/>
          <p:nvPr/>
        </p:nvSpPr>
        <p:spPr>
          <a:xfrm>
            <a:off x="312003" y="1039583"/>
            <a:ext cx="56470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Customers more likely to churn cont’d</a:t>
            </a:r>
            <a:endParaRPr b="1"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 txBox="1"/>
          <p:nvPr>
            <p:ph type="title"/>
          </p:nvPr>
        </p:nvSpPr>
        <p:spPr>
          <a:xfrm>
            <a:off x="-77723" y="474853"/>
            <a:ext cx="5257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</a:pPr>
            <a:r>
              <a:rPr b="1" lang="en-GB" sz="3600"/>
              <a:t>CHARGES VS CHURN</a:t>
            </a:r>
            <a:endParaRPr b="1" sz="3600"/>
          </a:p>
        </p:txBody>
      </p:sp>
      <p:sp>
        <p:nvSpPr>
          <p:cNvPr id="221" name="Google Shape;221;p11"/>
          <p:cNvSpPr txBox="1"/>
          <p:nvPr>
            <p:ph idx="1" type="body"/>
          </p:nvPr>
        </p:nvSpPr>
        <p:spPr>
          <a:xfrm>
            <a:off x="649224" y="1690689"/>
            <a:ext cx="4617719" cy="44862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Findings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Customers who pay high charges monthly churn more while those who pay less charges are more likely to stay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Since customers who pay high tend to churn more, hence causing total charges to peak towards the lower values.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This also show that customers are churn relatively quick making them unable to accumulate a higher total charges</a:t>
            </a:r>
            <a:endParaRPr/>
          </a:p>
        </p:txBody>
      </p:sp>
      <p:pic>
        <p:nvPicPr>
          <p:cNvPr id="222" name="Google Shape;2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73050"/>
            <a:ext cx="3569557" cy="285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8873" y="3429000"/>
            <a:ext cx="4114799" cy="285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 txBox="1"/>
          <p:nvPr/>
        </p:nvSpPr>
        <p:spPr>
          <a:xfrm>
            <a:off x="1844040" y="3510661"/>
            <a:ext cx="55991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</a:pPr>
            <a:r>
              <a:rPr b="1" lang="en-GB"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Numeric and Bivariate Analysis</a:t>
            </a:r>
            <a:endParaRPr b="1" sz="4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"/>
          <p:cNvSpPr txBox="1"/>
          <p:nvPr>
            <p:ph type="title"/>
          </p:nvPr>
        </p:nvSpPr>
        <p:spPr>
          <a:xfrm>
            <a:off x="134112" y="522589"/>
            <a:ext cx="3532632" cy="1271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</a:pPr>
            <a:r>
              <a:rPr b="1" lang="en-GB" sz="2400"/>
              <a:t>CORRELATION ANALYSIS</a:t>
            </a:r>
            <a:endParaRPr b="1" sz="2400"/>
          </a:p>
        </p:txBody>
      </p:sp>
      <p:sp>
        <p:nvSpPr>
          <p:cNvPr id="234" name="Google Shape;234;p13"/>
          <p:cNvSpPr txBox="1"/>
          <p:nvPr>
            <p:ph idx="1" type="body"/>
          </p:nvPr>
        </p:nvSpPr>
        <p:spPr>
          <a:xfrm>
            <a:off x="838200" y="1825625"/>
            <a:ext cx="3633216" cy="3011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Findings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Monthly charges have a strong positive correlation with Total charges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GB"/>
              <a:t>Heatmap showing the correlation level of various features</a:t>
            </a:r>
            <a:endParaRPr/>
          </a:p>
        </p:txBody>
      </p:sp>
      <p:pic>
        <p:nvPicPr>
          <p:cNvPr id="235" name="Google Shape;2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2386" y="330566"/>
            <a:ext cx="4864230" cy="3719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7275" y="4104593"/>
            <a:ext cx="3139677" cy="2383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 txBox="1"/>
          <p:nvPr>
            <p:ph type="title"/>
          </p:nvPr>
        </p:nvSpPr>
        <p:spPr>
          <a:xfrm>
            <a:off x="458521" y="365125"/>
            <a:ext cx="3761232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</a:pPr>
            <a:r>
              <a:rPr b="1" lang="en-GB" sz="2400"/>
              <a:t>FEATURES CORRELATION WITH CHURNING</a:t>
            </a:r>
            <a:endParaRPr b="1" sz="2400"/>
          </a:p>
        </p:txBody>
      </p:sp>
      <p:sp>
        <p:nvSpPr>
          <p:cNvPr id="242" name="Google Shape;242;p14"/>
          <p:cNvSpPr txBox="1"/>
          <p:nvPr>
            <p:ph idx="1" type="body"/>
          </p:nvPr>
        </p:nvSpPr>
        <p:spPr>
          <a:xfrm>
            <a:off x="458521" y="1813306"/>
            <a:ext cx="376123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GB"/>
              <a:t>Findings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There are lot</a:t>
            </a:r>
            <a:r>
              <a:rPr b="0" i="0" lang="en-GB">
                <a:latin typeface="Arial"/>
                <a:ea typeface="Arial"/>
                <a:cs typeface="Arial"/>
                <a:sym typeface="Arial"/>
              </a:rPr>
              <a:t> features in our data that affect churning both positively and negatively but we will focus on those that a high value of influence (0.25 upwards)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These are the 8 strongest features that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encourages</a:t>
            </a:r>
            <a:r>
              <a:rPr b="0" i="0" lang="en-GB">
                <a:latin typeface="Arial"/>
                <a:ea typeface="Arial"/>
                <a:cs typeface="Arial"/>
                <a:sym typeface="Arial"/>
              </a:rPr>
              <a:t> churning  are: Contract_Month-to-month, no online security, no techsupport, tenure group_1-12 months, fibre optic internet service, electronic check payment method, no online backups, no device protection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We will focus on how these features influence churn rates</a:t>
            </a:r>
            <a:endParaRPr b="0" i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6583" y="382937"/>
            <a:ext cx="5774233" cy="3078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8375" y="3616395"/>
            <a:ext cx="6607657" cy="2827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"/>
          <p:cNvSpPr txBox="1"/>
          <p:nvPr>
            <p:ph type="title"/>
          </p:nvPr>
        </p:nvSpPr>
        <p:spPr>
          <a:xfrm>
            <a:off x="630937" y="365125"/>
            <a:ext cx="38862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</a:pPr>
            <a:r>
              <a:rPr b="1" lang="en-GB" sz="2400"/>
              <a:t>CHARGES AND TENURE GROUPS VS CHURN</a:t>
            </a:r>
            <a:endParaRPr b="1" sz="2400"/>
          </a:p>
        </p:txBody>
      </p:sp>
      <p:sp>
        <p:nvSpPr>
          <p:cNvPr id="250" name="Google Shape;250;p15"/>
          <p:cNvSpPr txBox="1"/>
          <p:nvPr>
            <p:ph idx="1" type="body"/>
          </p:nvPr>
        </p:nvSpPr>
        <p:spPr>
          <a:xfrm>
            <a:off x="838200" y="1825625"/>
            <a:ext cx="476909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GB"/>
              <a:t>Findings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GB"/>
              <a:t>High paying customers on monthly basis is high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GB"/>
              <a:t>This gap between churned high and low paying  customers widens further as tenure increases especially from tenure 49 and above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GB"/>
              <a:t>More of the low paying customers are retained more as tenure increases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t/>
            </a:r>
            <a:endParaRPr/>
          </a:p>
        </p:txBody>
      </p:sp>
      <p:pic>
        <p:nvPicPr>
          <p:cNvPr id="251" name="Google Shape;2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5780" y="319405"/>
            <a:ext cx="4847332" cy="325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116" y="3671322"/>
            <a:ext cx="4065276" cy="2830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"/>
          <p:cNvSpPr txBox="1"/>
          <p:nvPr>
            <p:ph type="title"/>
          </p:nvPr>
        </p:nvSpPr>
        <p:spPr>
          <a:xfrm>
            <a:off x="877824" y="792816"/>
            <a:ext cx="3922776" cy="585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</a:pPr>
            <a:r>
              <a:rPr b="1" lang="en-GB" sz="2400"/>
              <a:t>CONTRACT AND OTHER FEATURES VS CHURN</a:t>
            </a:r>
            <a:endParaRPr b="1" sz="2400"/>
          </a:p>
        </p:txBody>
      </p:sp>
      <p:sp>
        <p:nvSpPr>
          <p:cNvPr id="258" name="Google Shape;258;p16"/>
          <p:cNvSpPr txBox="1"/>
          <p:nvPr>
            <p:ph idx="1" type="body"/>
          </p:nvPr>
        </p:nvSpPr>
        <p:spPr>
          <a:xfrm>
            <a:off x="386668" y="1528392"/>
            <a:ext cx="5013960" cy="1900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Finding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Most of the customers that churn are on month-month contracts across all categories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Non senior citizens who use electronic checks, have no online security/backup, and no device protection/partners/dependents and who have fibre optics tends to churn mostly tends to churn within 1-12 tenure groups</a:t>
            </a:r>
            <a:endParaRPr b="0" i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3872" y="4223258"/>
            <a:ext cx="4617260" cy="220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4304" y="152027"/>
            <a:ext cx="4462940" cy="1938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6040" y="2187643"/>
            <a:ext cx="4767073" cy="1938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0824" y="3578725"/>
            <a:ext cx="3557016" cy="3018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"/>
          <p:cNvSpPr txBox="1"/>
          <p:nvPr>
            <p:ph type="title"/>
          </p:nvPr>
        </p:nvSpPr>
        <p:spPr>
          <a:xfrm>
            <a:off x="188976" y="291515"/>
            <a:ext cx="386181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</a:pPr>
            <a:r>
              <a:rPr b="1" lang="en-GB" sz="2400"/>
              <a:t>INTERNET SERVICES AND OTHER FEATURES VS CHURN</a:t>
            </a:r>
            <a:endParaRPr sz="2400"/>
          </a:p>
        </p:txBody>
      </p:sp>
      <p:pic>
        <p:nvPicPr>
          <p:cNvPr id="268" name="Google Shape;268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8598" y="2196113"/>
            <a:ext cx="4495722" cy="2064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6231" y="200466"/>
            <a:ext cx="4234835" cy="1867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0240" y="4354041"/>
            <a:ext cx="4680919" cy="2064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4551531"/>
            <a:ext cx="4669460" cy="213068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7"/>
          <p:cNvSpPr txBox="1"/>
          <p:nvPr/>
        </p:nvSpPr>
        <p:spPr>
          <a:xfrm>
            <a:off x="121920" y="1802610"/>
            <a:ext cx="4345001" cy="1900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GB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Finding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n-GB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Non senior citizens who use electronic checks, have no online security/backup, and no device protection/partners/dependents and who have fibre optics tends to churn mostly tends to churn within 1-12 tenure groups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 txBox="1"/>
          <p:nvPr>
            <p:ph type="title"/>
          </p:nvPr>
        </p:nvSpPr>
        <p:spPr>
          <a:xfrm>
            <a:off x="838200" y="365125"/>
            <a:ext cx="4026408" cy="1097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</a:pPr>
            <a:r>
              <a:rPr b="1" lang="en-GB" sz="2400"/>
              <a:t>INTERNET SERVICES AND OTHER FEATURES VS CHURN</a:t>
            </a:r>
            <a:endParaRPr sz="2400"/>
          </a:p>
        </p:txBody>
      </p:sp>
      <p:pic>
        <p:nvPicPr>
          <p:cNvPr id="278" name="Google Shape;278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1384" y="3832579"/>
            <a:ext cx="5512609" cy="2093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9" y="781677"/>
            <a:ext cx="5406947" cy="2078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294" y="4280131"/>
            <a:ext cx="5174586" cy="198477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8"/>
          <p:cNvSpPr txBox="1"/>
          <p:nvPr/>
        </p:nvSpPr>
        <p:spPr>
          <a:xfrm>
            <a:off x="455599" y="1547922"/>
            <a:ext cx="4345001" cy="1900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GB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Finding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n-GB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Non senior citizens who use electronic checks, have no online security/backup, and no device protection/partners/dependents and who have fibre optics tends to churn mostly tends to churn within 1-12 tenure groups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"/>
          <p:cNvSpPr txBox="1"/>
          <p:nvPr>
            <p:ph type="title"/>
          </p:nvPr>
        </p:nvSpPr>
        <p:spPr>
          <a:xfrm>
            <a:off x="685800" y="526629"/>
            <a:ext cx="4501896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b="1" lang="en-GB"/>
              <a:t>FINAL THOUGHTS </a:t>
            </a:r>
            <a:endParaRPr b="1"/>
          </a:p>
        </p:txBody>
      </p:sp>
      <p:sp>
        <p:nvSpPr>
          <p:cNvPr id="287" name="Google Shape;287;p19"/>
          <p:cNvSpPr txBox="1"/>
          <p:nvPr>
            <p:ph idx="1" type="body"/>
          </p:nvPr>
        </p:nvSpPr>
        <p:spPr>
          <a:xfrm>
            <a:off x="685800" y="2194560"/>
            <a:ext cx="1082040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en-GB" sz="1400"/>
              <a:t>Most customers accumulate very little in total charges as they churn almost very quickly, so company should focus on early retention plans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en-GB" sz="1400"/>
              <a:t>Most churners are high paying  non-senior citizens </a:t>
            </a:r>
            <a:r>
              <a:rPr b="0" i="0" lang="en-GB" sz="1400"/>
              <a:t>who don't have partners/dependents</a:t>
            </a:r>
            <a:r>
              <a:rPr lang="en-GB" sz="1400"/>
              <a:t>. A special plan(s) particularly targeted to them should be deployed.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en-GB" sz="1400"/>
              <a:t>They focus more on retaining their high paying customers as they are the ones more likely to terminate early due to high prices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en-GB" sz="1400"/>
              <a:t>Company should make electronic checks payment method  more seamless to combat the high churning or promote other payment methods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en-GB" sz="1400"/>
              <a:t>Also customers who have no online security/online backup, and no device protection churn more hence, special packages/bundles should be made to address their challenge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b="0" i="0" lang="en-GB" sz="1400"/>
              <a:t>High paying customers tend to churn more, hence the company should develop a premium plan that focuses more on retaining these customers as they have big influence on total charges.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en-GB" sz="1400"/>
              <a:t>Most customer customers who churn are on a ‘month-to-month’ contract, hence longer contracts should be encouraged as this will in turn lead to increased ‘totalcharges’</a:t>
            </a:r>
            <a:endParaRPr b="0" i="0" sz="1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</a:pPr>
            <a:r>
              <a:rPr lang="en-GB" sz="1400"/>
              <a:t>Customers who use ‘Fibre optics’ on ‘InternetServices’ seem to be highly dissatisfied as they churn way more than the others, hence this service quality should be reviewed and strengthened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apor Trail">
  <a:themeElements>
    <a:clrScheme name="Vapor Trail">
      <a:dk1>
        <a:srgbClr val="000000"/>
      </a:dk1>
      <a:lt1>
        <a:srgbClr val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2026-01-06T16:11:04Z</dcterms:created>
  <dc:creator>Collins Nweze</dc:creator>
</cp:coreProperties>
</file>